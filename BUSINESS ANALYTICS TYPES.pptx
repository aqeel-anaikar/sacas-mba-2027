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nya anu" userId="c3dbe8bba56352d5" providerId="LiveId" clId="{B5B867F3-DF3D-4547-A8BD-E89D373BBDB7}"/>
    <pc:docChg chg="undo custSel addSld modSld">
      <pc:chgData name="ananya anu" userId="c3dbe8bba56352d5" providerId="LiveId" clId="{B5B867F3-DF3D-4547-A8BD-E89D373BBDB7}" dt="2025-09-08T04:59:10.261" v="49"/>
      <pc:docMkLst>
        <pc:docMk/>
      </pc:docMkLst>
      <pc:sldChg chg="addSp modSp mod">
        <pc:chgData name="ananya anu" userId="c3dbe8bba56352d5" providerId="LiveId" clId="{B5B867F3-DF3D-4547-A8BD-E89D373BBDB7}" dt="2025-09-08T04:53:44.744" v="0" actId="27309"/>
        <pc:sldMkLst>
          <pc:docMk/>
          <pc:sldMk cId="1368133700" sldId="258"/>
        </pc:sldMkLst>
        <pc:graphicFrameChg chg="add modGraphic">
          <ac:chgData name="ananya anu" userId="c3dbe8bba56352d5" providerId="LiveId" clId="{B5B867F3-DF3D-4547-A8BD-E89D373BBDB7}" dt="2025-09-08T04:53:44.744" v="0" actId="27309"/>
          <ac:graphicFrameMkLst>
            <pc:docMk/>
            <pc:sldMk cId="1368133700" sldId="258"/>
            <ac:graphicFrameMk id="5" creationId="{624235B2-D60C-8AA4-48DD-EBB27111876A}"/>
          </ac:graphicFrameMkLst>
        </pc:graphicFrameChg>
      </pc:sldChg>
      <pc:sldChg chg="addSp delSp modSp mod">
        <pc:chgData name="ananya anu" userId="c3dbe8bba56352d5" providerId="LiveId" clId="{B5B867F3-DF3D-4547-A8BD-E89D373BBDB7}" dt="2025-09-08T04:55:00.110" v="29" actId="20577"/>
        <pc:sldMkLst>
          <pc:docMk/>
          <pc:sldMk cId="1280124579" sldId="259"/>
        </pc:sldMkLst>
        <pc:spChg chg="mod">
          <ac:chgData name="ananya anu" userId="c3dbe8bba56352d5" providerId="LiveId" clId="{B5B867F3-DF3D-4547-A8BD-E89D373BBDB7}" dt="2025-09-08T04:54:37.011" v="4"/>
          <ac:spMkLst>
            <pc:docMk/>
            <pc:sldMk cId="1280124579" sldId="259"/>
            <ac:spMk id="2" creationId="{F7CD07B5-5B9A-7F7A-DD15-D6F0EA986228}"/>
          </ac:spMkLst>
        </pc:spChg>
        <pc:spChg chg="mod">
          <ac:chgData name="ananya anu" userId="c3dbe8bba56352d5" providerId="LiveId" clId="{B5B867F3-DF3D-4547-A8BD-E89D373BBDB7}" dt="2025-09-08T04:55:00.110" v="29" actId="20577"/>
          <ac:spMkLst>
            <pc:docMk/>
            <pc:sldMk cId="1280124579" sldId="259"/>
            <ac:spMk id="3" creationId="{58148E45-0853-1374-21B0-EDFA98201F79}"/>
          </ac:spMkLst>
        </pc:spChg>
        <pc:spChg chg="add del">
          <ac:chgData name="ananya anu" userId="c3dbe8bba56352d5" providerId="LiveId" clId="{B5B867F3-DF3D-4547-A8BD-E89D373BBDB7}" dt="2025-09-08T04:54:08.518" v="2" actId="22"/>
          <ac:spMkLst>
            <pc:docMk/>
            <pc:sldMk cId="1280124579" sldId="259"/>
            <ac:spMk id="5" creationId="{08F846DE-371C-ABC3-7BA8-709C633648E3}"/>
          </ac:spMkLst>
        </pc:spChg>
      </pc:sldChg>
      <pc:sldChg chg="modSp mod">
        <pc:chgData name="ananya anu" userId="c3dbe8bba56352d5" providerId="LiveId" clId="{B5B867F3-DF3D-4547-A8BD-E89D373BBDB7}" dt="2025-09-08T04:55:45.401" v="35"/>
        <pc:sldMkLst>
          <pc:docMk/>
          <pc:sldMk cId="733793151" sldId="260"/>
        </pc:sldMkLst>
        <pc:spChg chg="mod">
          <ac:chgData name="ananya anu" userId="c3dbe8bba56352d5" providerId="LiveId" clId="{B5B867F3-DF3D-4547-A8BD-E89D373BBDB7}" dt="2025-09-08T04:55:45.401" v="35"/>
          <ac:spMkLst>
            <pc:docMk/>
            <pc:sldMk cId="733793151" sldId="260"/>
            <ac:spMk id="2" creationId="{FA6121F9-00E7-FED6-C993-BD937BDDDE89}"/>
          </ac:spMkLst>
        </pc:spChg>
        <pc:spChg chg="mod">
          <ac:chgData name="ananya anu" userId="c3dbe8bba56352d5" providerId="LiveId" clId="{B5B867F3-DF3D-4547-A8BD-E89D373BBDB7}" dt="2025-09-08T04:55:42.458" v="34" actId="21"/>
          <ac:spMkLst>
            <pc:docMk/>
            <pc:sldMk cId="733793151" sldId="260"/>
            <ac:spMk id="3" creationId="{37A5E439-E371-D118-1752-1EFFE7314479}"/>
          </ac:spMkLst>
        </pc:spChg>
      </pc:sldChg>
      <pc:sldChg chg="modSp new mod">
        <pc:chgData name="ananya anu" userId="c3dbe8bba56352d5" providerId="LiveId" clId="{B5B867F3-DF3D-4547-A8BD-E89D373BBDB7}" dt="2025-09-08T04:56:31.480" v="42"/>
        <pc:sldMkLst>
          <pc:docMk/>
          <pc:sldMk cId="1565039076" sldId="261"/>
        </pc:sldMkLst>
        <pc:spChg chg="mod">
          <ac:chgData name="ananya anu" userId="c3dbe8bba56352d5" providerId="LiveId" clId="{B5B867F3-DF3D-4547-A8BD-E89D373BBDB7}" dt="2025-09-08T04:56:31.480" v="42"/>
          <ac:spMkLst>
            <pc:docMk/>
            <pc:sldMk cId="1565039076" sldId="261"/>
            <ac:spMk id="2" creationId="{7432DD85-FE7B-83DA-E4C2-0CB6FC7875EA}"/>
          </ac:spMkLst>
        </pc:spChg>
        <pc:spChg chg="mod">
          <ac:chgData name="ananya anu" userId="c3dbe8bba56352d5" providerId="LiveId" clId="{B5B867F3-DF3D-4547-A8BD-E89D373BBDB7}" dt="2025-09-08T04:56:29.042" v="41" actId="21"/>
          <ac:spMkLst>
            <pc:docMk/>
            <pc:sldMk cId="1565039076" sldId="261"/>
            <ac:spMk id="3" creationId="{38CE5CE2-CD9C-9B59-BB8A-0F53EF91DFB3}"/>
          </ac:spMkLst>
        </pc:spChg>
      </pc:sldChg>
      <pc:sldChg chg="modSp new mod">
        <pc:chgData name="ananya anu" userId="c3dbe8bba56352d5" providerId="LiveId" clId="{B5B867F3-DF3D-4547-A8BD-E89D373BBDB7}" dt="2025-09-08T04:59:10.261" v="49"/>
        <pc:sldMkLst>
          <pc:docMk/>
          <pc:sldMk cId="1076450455" sldId="262"/>
        </pc:sldMkLst>
        <pc:spChg chg="mod">
          <ac:chgData name="ananya anu" userId="c3dbe8bba56352d5" providerId="LiveId" clId="{B5B867F3-DF3D-4547-A8BD-E89D373BBDB7}" dt="2025-09-08T04:59:10.261" v="49"/>
          <ac:spMkLst>
            <pc:docMk/>
            <pc:sldMk cId="1076450455" sldId="262"/>
            <ac:spMk id="2" creationId="{03223EBE-109E-88C0-91AC-E27EB6780ACA}"/>
          </ac:spMkLst>
        </pc:spChg>
        <pc:spChg chg="mod">
          <ac:chgData name="ananya anu" userId="c3dbe8bba56352d5" providerId="LiveId" clId="{B5B867F3-DF3D-4547-A8BD-E89D373BBDB7}" dt="2025-09-08T04:59:05.917" v="48" actId="21"/>
          <ac:spMkLst>
            <pc:docMk/>
            <pc:sldMk cId="1076450455" sldId="262"/>
            <ac:spMk id="3" creationId="{028430EA-0A4B-D16B-3B9F-583E6F74472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4CBD7-F1A0-41E4-BE03-4D0F01C770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02F8B8-6AEE-50FA-3D17-7CA02FB906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5019A-70D9-4F0E-90E7-B3DA5828B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C945A-8E01-4EBF-A006-9106FA6A619E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1AD55-3BB1-18AD-8A59-BF5F8CC14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447B9E-5BE6-3322-55D1-702604549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2BDB8-C203-4E60-AB75-3E4F83121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050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0A25E-AF84-A3F0-9CAC-0AE3FBB04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AA830-55BF-1751-FA4D-71AFFD6F3C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806F4-5C79-9472-5D24-CE98E0C1D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C945A-8E01-4EBF-A006-9106FA6A619E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D29246-A069-227B-94CD-E15E765CE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F2A178-419F-D056-FC63-F65C04DD9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2BDB8-C203-4E60-AB75-3E4F83121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027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4A21E-74BB-2350-9A68-069810901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E11174-7001-AF56-ABFC-37A8AF889C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87182A-3EE0-EA28-3674-EF1E711CD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C945A-8E01-4EBF-A006-9106FA6A619E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F151EC-55D0-390F-78CE-4106E8987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042D25-FE2B-DF0A-4D8A-1D5CC29EE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2BDB8-C203-4E60-AB75-3E4F83121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264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FC02D-8C0B-8270-C857-A3C761610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0717F-E525-6142-B461-79343B46B0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F059D5-891B-71E7-FB7B-3D71EAAFE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691981-1C91-05A1-E9DF-3499D2C05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C945A-8E01-4EBF-A006-9106FA6A619E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F7E912-84C8-8706-95D1-5368E33B1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43112F-52B3-6EBA-550B-1B01FFA0F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2BDB8-C203-4E60-AB75-3E4F83121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553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34069-231B-80FB-A4D9-C7270598E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92E55C-A083-ADE4-3318-789A60470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754211-6159-5AF1-3738-AB058794F0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E41B3B-F4BA-A5EB-27BD-F68FDBC173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CF85D4-8811-5D12-0D22-D340ADC16D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D73BB9-65BD-DB71-CE9F-F4768BB8B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C945A-8E01-4EBF-A006-9106FA6A619E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D88475-EDCA-705B-F938-200C61595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A012CA-8919-444D-F576-9AE9235C4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2BDB8-C203-4E60-AB75-3E4F83121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655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3BEF3-9CA0-9F14-97CF-0B46C98ED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D45890-F5A4-E786-B46A-B7DABA9BC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C945A-8E01-4EBF-A006-9106FA6A619E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68707E-3E52-31B3-E7B8-50953C620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B04F88-6027-0E21-8871-4BB3D4D63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2BDB8-C203-4E60-AB75-3E4F83121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351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90C252-E7D1-0175-E58E-57B974E4E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C945A-8E01-4EBF-A006-9106FA6A619E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3A89FE-7A72-C657-7982-5EEB03D51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4FD41C-7A7E-3D8C-BAB6-AF00DC1A1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2BDB8-C203-4E60-AB75-3E4F83121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376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370D4-9A5B-321D-ED35-6373D5013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2998D-B589-CD45-BDA3-1C0FC76CF3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849F9B-79B5-13AF-4759-372E8CEA16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2E3A57-DF09-C07F-8C52-1FD5F1A48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C945A-8E01-4EBF-A006-9106FA6A619E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29B600-3F5D-3955-0AF0-40E67CB59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9EA6AE-6FDB-6CF9-2F23-7BCB54380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2BDB8-C203-4E60-AB75-3E4F83121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277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DD415-4518-1056-8FA9-4CFDC3AC1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A67D41-A53F-95BA-C205-14A1C1B86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BAB952-F29A-73B7-656D-A768C2E168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8437C7-1234-780C-286B-AE7E48EDC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C945A-8E01-4EBF-A006-9106FA6A619E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C5842A-DC80-1057-E2EA-FFB9EC0DD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9217DB-ADF1-8458-9FDB-F9C32E269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2BDB8-C203-4E60-AB75-3E4F83121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028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A4A2A-E8B6-CBF2-5131-A590ADA29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878959-BE81-FF65-2709-C63638647C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A581FF-0704-EECD-53D4-2ED31C359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C945A-8E01-4EBF-A006-9106FA6A619E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7B33E7-C2E4-A79A-ECFD-30033D0D9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B77505-8455-A5D6-793B-71C2AA298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2BDB8-C203-4E60-AB75-3E4F83121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217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F3A3B9-B9B3-AB25-19B8-A5F78CA802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20C828-487B-8F44-D1BC-05394A5CF8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AF586-5CC3-89B6-3D06-A491372EF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C945A-8E01-4EBF-A006-9106FA6A619E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B369F5-3B94-BE62-5727-B22F947C7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D00B80-DED9-3FC6-7B23-DD4EFC23D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2BDB8-C203-4E60-AB75-3E4F83121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641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47ACA0-A9D8-63B3-F371-2CE04B3EE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067DDD-C296-018D-54E3-22FE8E1CD5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1234CA-4035-3161-123B-2EBE8DCE74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C945A-8E01-4EBF-A006-9106FA6A619E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CB97A-2F24-EBE0-E337-2EC5D5FC36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B6F8D-4733-E443-E512-D90EEC403E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F2BDB8-C203-4E60-AB75-3E4F83121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042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google.com/search?sca_esv=5ffbb4eb509e187f&amp;sxsrf=AE3TifNr_sOdeF5ZJe2tgGW5SBqmL2MWqQ%3A1757306732570&amp;q=Descriptive+Analytics&amp;sa=X&amp;sqi=2&amp;ved=2ahUKEwiKq7ncrciPAxUbxzgGHZcGOaAQxccNegQIKBAC&amp;mstk=AUtExfBY2NPGjf-dzAld-3WQBTY_g8rDJRWs9N9X1LpE15qji40TytdXsIBX-0dRpaHSkFr5AOUNTAt2kzZYaG-CX7cFrcFi7I9Dv5_rPRM5-lj93uNkW8_Dc5YOwq_HEtuOz78TpX1rsBQQd4lqGC8jJmamlTjlv3FqqlG-cm2FvSifseZKkofd_qrFcmPA-dJUVOxQs9xFuJMOj59l5ui9hSEhQ84nB0MUplhyyBouGQyBh9Bh7mls7N2lj5kTPAm40omBYtt6rfl5vNLA1q96SR7p&amp;csui=3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ogle.com/search?sca_esv=5ffbb4eb509e187f&amp;sxsrf=AE3TifNr_sOdeF5ZJe2tgGW5SBqmL2MWqQ%3A1757306732570&amp;q=Diagnostic+Analytics&amp;sa=X&amp;sqi=2&amp;ved=2ahUKEwiKq7ncrciPAxUbxzgGHZcGOaAQxccNegUIgQEQAg&amp;mstk=AUtExfBY2NPGjf-dzAld-3WQBTY_g8rDJRWs9N9X1LpE15qji40TytdXsIBX-0dRpaHSkFr5AOUNTAt2kzZYaG-CX7cFrcFi7I9Dv5_rPRM5-lj93uNkW8_Dc5YOwq_HEtuOz78TpX1rsBQQd4lqGC8jJmamlTjlv3FqqlG-cm2FvSifseZKkofd_qrFcmPA-dJUVOxQs9xFuJMOj59l5ui9hSEhQ84nB0MUplhyyBouGQyBh9Bh7mls7N2lj5kTPAm40omBYtt6rfl5vNLA1q96SR7p&amp;csui=3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ogle.com/search?sca_esv=5ffbb4eb509e187f&amp;sxsrf=AE3TifNr_sOdeF5ZJe2tgGW5SBqmL2MWqQ%3A1757306732570&amp;q=Predictive+Analytics&amp;sa=X&amp;sqi=2&amp;ved=2ahUKEwiKq7ncrciPAxUbxzgGHZcGOaAQxccNegUIgAEQAg&amp;mstk=AUtExfBY2NPGjf-dzAld-3WQBTY_g8rDJRWs9N9X1LpE15qji40TytdXsIBX-0dRpaHSkFr5AOUNTAt2kzZYaG-CX7cFrcFi7I9Dv5_rPRM5-lj93uNkW8_Dc5YOwq_HEtuOz78TpX1rsBQQd4lqGC8jJmamlTjlv3FqqlG-cm2FvSifseZKkofd_qrFcmPA-dJUVOxQs9xFuJMOj59l5ui9hSEhQ84nB0MUplhyyBouGQyBh9Bh7mls7N2lj5kTPAm40omBYtt6rfl5vNLA1q96SR7p&amp;csui=3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ogle.com/search?sca_esv=5ffbb4eb509e187f&amp;sxsrf=AE3TifNr_sOdeF5ZJe2tgGW5SBqmL2MWqQ%3A1757306732570&amp;q=Prescriptive+Analytics&amp;sa=X&amp;sqi=2&amp;ved=2ahUKEwiKq7ncrciPAxUbxzgGHZcGOaAQxccNegQIfxAC&amp;mstk=AUtExfBY2NPGjf-dzAld-3WQBTY_g8rDJRWs9N9X1LpE15qji40TytdXsIBX-0dRpaHSkFr5AOUNTAt2kzZYaG-CX7cFrcFi7I9Dv5_rPRM5-lj93uNkW8_Dc5YOwq_HEtuOz78TpX1rsBQQd4lqGC8jJmamlTjlv3FqqlG-cm2FvSifseZKkofd_qrFcmPA-dJUVOxQs9xFuJMOj59l5ui9hSEhQ84nB0MUplhyyBouGQyBh9Bh7mls7N2lj5kTPAm40omBYtt6rfl5vNLA1q96SR7p&amp;csui=3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ogle.com/search?sca_esv=5ffbb4eb509e187f&amp;sxsrf=AE3TifNr_sOdeF5ZJe2tgGW5SBqmL2MWqQ%3A1757306732570&amp;q=Cognitive+Analytics&amp;sa=X&amp;sqi=2&amp;ved=2ahUKEwiKq7ncrciPAxUbxzgGHZcGOaAQxccNegQIfhAC&amp;mstk=AUtExfBY2NPGjf-dzAld-3WQBTY_g8rDJRWs9N9X1LpE15qji40TytdXsIBX-0dRpaHSkFr5AOUNTAt2kzZYaG-CX7cFrcFi7I9Dv5_rPRM5-lj93uNkW8_Dc5YOwq_HEtuOz78TpX1rsBQQd4lqGC8jJmamlTjlv3FqqlG-cm2FvSifseZKkofd_qrFcmPA-dJUVOxQs9xFuJMOj59l5ui9hSEhQ84nB0MUplhyyBouGQyBh9Bh7mls7N2lj5kTPAm40omBYtt6rfl5vNLA1q96SR7p&amp;csui=3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D815C-8213-E5E9-AF20-884E36F6AC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BUSINESS ANALYTICS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BA4F2C-2BE3-9A41-C1E7-66AEC6CAA4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7329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E04B7-8EA8-D55A-088F-6913FC249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3A2BD-948B-E5D2-DC2D-DF14E4E59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main types of business analytics are </a:t>
            </a:r>
          </a:p>
          <a:p>
            <a:pPr marL="0" indent="0">
              <a:buNone/>
            </a:pPr>
            <a:r>
              <a:rPr lang="en-US" dirty="0"/>
              <a:t>   These types build on each other, progressing from understanding past events to influencing future outcomes.  </a:t>
            </a:r>
          </a:p>
          <a:p>
            <a:r>
              <a:rPr lang="en-US" dirty="0"/>
              <a:t>Descriptive (what happened) </a:t>
            </a:r>
          </a:p>
          <a:p>
            <a:r>
              <a:rPr lang="en-US" dirty="0"/>
              <a:t>Diagnostic (why it happened)</a:t>
            </a:r>
          </a:p>
          <a:p>
            <a:r>
              <a:rPr lang="en-US" dirty="0"/>
              <a:t>Predictive (what might happen)</a:t>
            </a:r>
          </a:p>
          <a:p>
            <a:r>
              <a:rPr lang="en-US" dirty="0"/>
              <a:t>Prescriptive (what should be done). These types build on each other, progressing from understanding past events to influencing future outcomes.    A fifth type</a:t>
            </a:r>
          </a:p>
          <a:p>
            <a:r>
              <a:rPr lang="en-US" dirty="0"/>
              <a:t>Cognitive Analytics, incorporates AI and machine learning to further enhance these processes.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683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C065A-92FF-B856-2CF3-697FBF0B8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hlinkClick r:id="rId2"/>
              </a:rPr>
              <a:t>Descriptive Analytics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35B76-1D55-7AB6-04B5-DFF5151EC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endParaRPr lang="en-US" b="1" dirty="0"/>
          </a:p>
          <a:p>
            <a:pPr marL="457200" lvl="1" indent="0">
              <a:buNone/>
            </a:pPr>
            <a:endParaRPr lang="en-US" b="1" dirty="0"/>
          </a:p>
          <a:p>
            <a:pPr marL="457200" lvl="1" indent="0">
              <a:buNone/>
            </a:pPr>
            <a:r>
              <a:rPr lang="en-US" b="1" dirty="0"/>
              <a:t>   Focus:</a:t>
            </a:r>
            <a:r>
              <a:rPr lang="en-US" dirty="0"/>
              <a:t> Summarizes historical data to understand past events. 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b="1" dirty="0"/>
              <a:t>Answers:</a:t>
            </a:r>
            <a:r>
              <a:rPr lang="en-US" dirty="0"/>
              <a:t> "What happened?". </a:t>
            </a:r>
          </a:p>
          <a:p>
            <a:pPr lvl="1"/>
            <a:endParaRPr lang="en-US" dirty="0"/>
          </a:p>
          <a:p>
            <a:pPr lvl="1"/>
            <a:r>
              <a:rPr lang="en-US" b="1" dirty="0"/>
              <a:t>Examples:</a:t>
            </a:r>
            <a:r>
              <a:rPr lang="en-US" dirty="0"/>
              <a:t> Dashboards showing sales trends, reports on website traffic, or tracking customer sign-ups. 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5" name="Slide Zoom 4">
                <a:extLst>
                  <a:ext uri="{FF2B5EF4-FFF2-40B4-BE49-F238E27FC236}">
                    <a16:creationId xmlns:a16="http://schemas.microsoft.com/office/drawing/2014/main" id="{624235B2-D60C-8AA4-48DD-EBB27111876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96087878"/>
                  </p:ext>
                </p:extLst>
              </p:nvPr>
            </p:nvGraphicFramePr>
            <p:xfrm>
              <a:off x="-93983" y="5735279"/>
              <a:ext cx="3048000" cy="1714500"/>
            </p:xfrm>
            <a:graphic>
              <a:graphicData uri="http://schemas.microsoft.com/office/powerpoint/2016/slidezoom">
                <pslz:sldZm>
                  <pslz:sldZmObj sldId="259" cId="1280124579">
                    <pslz:zmPr id="{A1CBEE1E-3CAC-4EAB-8F76-05C0F047E5C7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5" name="Slide Zoom 4">
                <a:extLst>
                  <a:ext uri="{FF2B5EF4-FFF2-40B4-BE49-F238E27FC236}">
                    <a16:creationId xmlns:a16="http://schemas.microsoft.com/office/drawing/2014/main" id="{624235B2-D60C-8AA4-48DD-EBB27111876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93983" y="5735279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68133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D07B5-5B9A-7F7A-DD15-D6F0EA986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hlinkClick r:id="rId2"/>
              </a:rPr>
              <a:t>Diagnostic Analytics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48E45-0853-1374-21B0-EDFA98201F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endParaRPr lang="en-US" b="1" u="sng" dirty="0"/>
          </a:p>
          <a:p>
            <a:pPr marL="0" lvl="0" indent="0">
              <a:buNone/>
            </a:pPr>
            <a:endParaRPr lang="en-US" dirty="0"/>
          </a:p>
          <a:p>
            <a:pPr lvl="1"/>
            <a:r>
              <a:rPr lang="en-US" b="1" dirty="0"/>
              <a:t>Focus:</a:t>
            </a:r>
            <a:r>
              <a:rPr lang="en-US" dirty="0"/>
              <a:t> Explores data to identify the root causes of past events. </a:t>
            </a:r>
          </a:p>
          <a:p>
            <a:pPr lvl="1"/>
            <a:endParaRPr lang="en-US" dirty="0"/>
          </a:p>
          <a:p>
            <a:pPr lvl="1"/>
            <a:r>
              <a:rPr lang="en-US" b="1" dirty="0"/>
              <a:t>Answers:</a:t>
            </a:r>
            <a:r>
              <a:rPr lang="en-US" dirty="0"/>
              <a:t> "Why did it happen?". </a:t>
            </a:r>
          </a:p>
          <a:p>
            <a:pPr lvl="1"/>
            <a:endParaRPr lang="en-US" dirty="0"/>
          </a:p>
          <a:p>
            <a:pPr lvl="1"/>
            <a:r>
              <a:rPr lang="en-US" b="1" dirty="0"/>
              <a:t>Examples:</a:t>
            </a:r>
            <a:r>
              <a:rPr lang="en-US" dirty="0"/>
              <a:t> Pinpointing the reasons for a sales dip or identifying factors that contributed to a campaign's success.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124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121F9-00E7-FED6-C993-BD937BDDD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hlinkClick r:id="rId2"/>
              </a:rPr>
              <a:t>Predictive Analytics</a:t>
            </a:r>
            <a:br>
              <a:rPr lang="en-US" b="1" u="sng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5E439-E371-D118-1752-1EFFE7314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endParaRPr lang="en-US" dirty="0"/>
          </a:p>
          <a:p>
            <a:pPr lvl="1"/>
            <a:r>
              <a:rPr lang="en-US" b="1" dirty="0"/>
              <a:t>Focus:</a:t>
            </a:r>
            <a:r>
              <a:rPr lang="en-US" dirty="0"/>
              <a:t> Uses statistical models and machine learning to forecast future trends and behaviors. </a:t>
            </a:r>
          </a:p>
          <a:p>
            <a:pPr lvl="1"/>
            <a:endParaRPr lang="en-US" dirty="0"/>
          </a:p>
          <a:p>
            <a:pPr lvl="1"/>
            <a:r>
              <a:rPr lang="en-US" b="1" dirty="0"/>
              <a:t>Answers:</a:t>
            </a:r>
            <a:r>
              <a:rPr lang="en-US" dirty="0"/>
              <a:t> "What might happen next?". </a:t>
            </a:r>
          </a:p>
          <a:p>
            <a:pPr lvl="1"/>
            <a:endParaRPr lang="en-US" dirty="0"/>
          </a:p>
          <a:p>
            <a:pPr lvl="1"/>
            <a:r>
              <a:rPr lang="en-US" b="1" dirty="0"/>
              <a:t>Examples:</a:t>
            </a:r>
            <a:r>
              <a:rPr lang="en-US" dirty="0"/>
              <a:t> Forecasting sales for the next quarter or predicting customer churn.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3793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2DD85-FE7B-83DA-E4C2-0CB6FC787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hlinkClick r:id="rId2"/>
              </a:rPr>
              <a:t>Prescriptive Analytics</a:t>
            </a:r>
            <a:br>
              <a:rPr lang="en-US" b="1" u="sng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E5CE2-CD9C-9B59-BB8A-0F53EF91D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endParaRPr lang="en-US" dirty="0"/>
          </a:p>
          <a:p>
            <a:pPr lvl="1"/>
            <a:r>
              <a:rPr lang="en-US" b="1" dirty="0"/>
              <a:t>Focus:</a:t>
            </a:r>
            <a:r>
              <a:rPr lang="en-US" dirty="0"/>
              <a:t> Suggests specific actions and recommendations to achieve desired outcomes. </a:t>
            </a:r>
          </a:p>
          <a:p>
            <a:pPr lvl="1"/>
            <a:endParaRPr lang="en-US" dirty="0"/>
          </a:p>
          <a:p>
            <a:pPr lvl="1"/>
            <a:r>
              <a:rPr lang="en-US" b="1" dirty="0"/>
              <a:t>Answers:</a:t>
            </a:r>
            <a:r>
              <a:rPr lang="en-US" dirty="0"/>
              <a:t> "What should we do?".</a:t>
            </a:r>
          </a:p>
          <a:p>
            <a:pPr lvl="1"/>
            <a:r>
              <a:rPr lang="en-US" dirty="0"/>
              <a:t> </a:t>
            </a:r>
          </a:p>
          <a:p>
            <a:pPr lvl="1"/>
            <a:r>
              <a:rPr lang="en-US" b="1" dirty="0"/>
              <a:t>Examples:</a:t>
            </a:r>
            <a:r>
              <a:rPr lang="en-US" dirty="0"/>
              <a:t> Providing optimal strategies to improve business processes based on data-driven insights.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5039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23EBE-109E-88C0-91AC-E27EB678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>
                <a:hlinkClick r:id="rId2"/>
              </a:rPr>
              <a:t>Cognitive Analytics</a:t>
            </a:r>
            <a:br>
              <a:rPr lang="en-US" b="1" u="sng"/>
            </a:b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430EA-0A4B-D16B-3B9F-583E6F744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endParaRPr lang="en-US" dirty="0"/>
          </a:p>
          <a:p>
            <a:pPr lvl="1"/>
            <a:r>
              <a:rPr lang="en-US" b="1" dirty="0"/>
              <a:t>Focus:</a:t>
            </a:r>
            <a:r>
              <a:rPr lang="en-US" dirty="0"/>
              <a:t> Incorporates advanced AI, machine learning, and deep learning techniques to analyze data in more complex ways. </a:t>
            </a:r>
          </a:p>
          <a:p>
            <a:pPr lvl="1"/>
            <a:endParaRPr lang="en-US" dirty="0"/>
          </a:p>
          <a:p>
            <a:pPr lvl="1"/>
            <a:r>
              <a:rPr lang="en-US" b="1" dirty="0"/>
              <a:t>Answers:</a:t>
            </a:r>
            <a:r>
              <a:rPr lang="en-US" dirty="0"/>
              <a:t> A combination of the questions above, often with more sophisticated reasoning and insights. </a:t>
            </a:r>
          </a:p>
          <a:p>
            <a:pPr lvl="1"/>
            <a:endParaRPr lang="en-US" dirty="0"/>
          </a:p>
          <a:p>
            <a:pPr lvl="1"/>
            <a:r>
              <a:rPr lang="en-US" b="1" dirty="0"/>
              <a:t>Examples:</a:t>
            </a:r>
            <a:r>
              <a:rPr lang="en-US" dirty="0"/>
              <a:t> Enhancing the accuracy and speed of predictive models or uncovering hidden patterns in large datasets.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450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302</Words>
  <Application>Microsoft Office PowerPoint</Application>
  <PresentationFormat>Widescreen</PresentationFormat>
  <Paragraphs>46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BUSINESS ANALYTICS</vt:lpstr>
      <vt:lpstr>TYPES</vt:lpstr>
      <vt:lpstr>Descriptive Analytics </vt:lpstr>
      <vt:lpstr>Diagnostic Analytics </vt:lpstr>
      <vt:lpstr>Predictive Analytics </vt:lpstr>
      <vt:lpstr>Prescriptive Analytics </vt:lpstr>
      <vt:lpstr>Cognitive Analytics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ananya anu</dc:creator>
  <cp:lastModifiedBy>ananya anu</cp:lastModifiedBy>
  <cp:revision>1</cp:revision>
  <dcterms:created xsi:type="dcterms:W3CDTF">2025-09-08T04:53:23Z</dcterms:created>
  <dcterms:modified xsi:type="dcterms:W3CDTF">2025-09-08T04:59:13Z</dcterms:modified>
</cp:coreProperties>
</file>